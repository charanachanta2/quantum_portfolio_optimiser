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comes in: prices, VIX, ESG scores. Every month we estimate returns (mu) and risk (Sigma). We turn 'choose the best weights' into a QUBO: a yes/no puzzle over bits. QAOA (a quantum circuit) tries to find the lowest-energy bit pattern. Noise is added, then error mitigation or logical qubits are applied. Classical solvers (exact, SA, MIQP, CVaR, RL) solve the same problem; a walk-forward backtest compares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mode: fetch_data.py freezes Yahoo prices and FRED series to csv; every later stage runs offline from that snapshot. ESG: build_esg.py converts Sustainalytics risk scores (lower = better) into a percentile score where higher = better. Safeguards: macro series are never back-filled, truncated FRED series are dropped, pseudo-ESG is refused. Offline mode: a synthetic market with calm and stress regimes and forced 2008-like and 2020-like crises (figure). This deck was built from: SYNTHETIC DATA (meta.json data_source = synthetic).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last 252 trading days only (no look-ahead). Expected return mu = half the asset's own mean + half the universe mean (shrinkage). Covariance Sigma is shrunk 20% toward its diagonal. ESG hard filter: assets with ESG &lt; 40 are removed first. Greedy pick of 3-4 assets (best Sharpe, low correlation) to fit on qubits. VIX z-score sets risk aversion lambda_t and the weight cap (50% calm, 33% stress).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QUBO is: minimise x^T Q x with every x a bit. Each weight = level/6, level = b0 + 2*b1: two bits per asset per period. 3 assets x 2 bits x 2 periods = 12 qubits (4096 candidate answers). Q mixes: -return, +risk, +transaction cost, +budget penalty, +cap penalty, -ESG tilt. Tests: Q matches the direct objective, and its optimum equals the hard-budget MIQP optimum.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in an equal superposition of all bitstrings. Repeat p times: a cost phase then an RX mixer. Two angles per layer are tuned by COBYLA. Adaptive depth: add layers (up to 3) only while the improvement exceeds 1%. Sample bitstrings, evaluate their true energy classically, keep the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Gate, idle and readout errors are turned into an independent bit-flip probability q per qubit on the output string. On this instance q is 0.026 (raw), 0.025 (with DD) and 1.0e-06 (logical). Phenomenological model, not hardware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at 1x, 2x and 3x noise. Fit a curve and read it at 0x. Cost: more runs and variance inflated by 19x (Richardson weights 3, -3,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channel is known, so we apply its inverse with signed random samples. On this instance PEC gives 0.6629 (ideal 0.6629): unbiased. Price: gamma = (1-2q)^(-n); shots grow as gamma^2.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Stim simulates the rotated surface code memory experiment, PyMatching decodes (d = 3, 5, 7). Fit: p_L/round = A (p/p_th)^((d+1)/2) with A = 0.044, p_th = 0.0099 (9 points). Logical mode injects the fitted logical flip rate into the small QAOA simulation. Stim covers memory only; QAOA's non-Clifford gates are not simulated at code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rotations -&gt; T gates, choose distance d, add T-factory area; failure budget split three ways (logical, synthesis, magic states). n=16, p=1e-3: 75,576 physical qubits (range 49,232 - 88,758). n=120, p=1e-3: 539,604 (range 183,480 - 1,180,620); needs 2-level distillation. All constants are swept (assumptions table, tornado plot). Runtime is T-supply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mitigation is switched on separately and in combination (9 configurations). Raw error 0.112; ZNE 0.055; PEC 0.038. DD+ZNE 0.045; DD+PEC 0.038; logical (d=7) 0.007. Sampling overhead: ZNE 57x, PEC 12x.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exact_qubo: brute force = true QUBO optimum (ceiling for QUBO solvers). sa_qubo: simulated annealing. miqp_sub: hard-budget discrete problem, Gurobi MIQP if installed, else an exact DP (same optimum, cross-tested). CVaR stochastic programs in HiGHS (and Gurobi when installed); equal weight. RL: NumPy evolution-strategy agent; PyTorch REINFORCE agent written but NOT run in this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rebalance: build the QUBO from past data only, solve, trade, pay costs, hold. Methods: 11. GFC_2008: best classical cvar_sub Sharpe 1.17; QAOA logical 1.16; equal weight 0.67. COVID_2020: best classical cvar_full Sharpe 0.37; QAOA logical -0.01; equal weight -0.34. QUBO solvers differ little: the problem is tiny and the exact optimum is the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Paired stationary bootstrap on the Sharpe difference; Wilcoxon on per-period returns; Holm correction. Result: 0 of 28 (GFC) and 0 of 28 (COVID) differences are significant. Example: qaoa_ideal vs cvar_sub in 2008: diff -0.13, 95% CI [-0.48, +0.32]. Wide intervals mean low power: not significant is not the same as equal.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noisy success &gt;= ideal x (1-q)^n.  P2 Hoeffding shots.  P3 PEC cost gamma^2 (n=100, q=0.03: 2.4e5).  P4 ZNE variance x19.  P5 random baseline 2^n.  P6 noise budget shrinks like 1/n. Empirical exponents (cost ~ 2^(s n)): QAOA 0.86, SA 0.43, random 1.00, Grover 0.50. Six sizes, n &lt;= 16: trend evidence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app replays market data tick by tick (synthetic or the real snapshot, with a banner saying which). Every N ticks it rebuilds the QUBO from data seen so far and re-solves with each chosen method. Shows P&amp;L lines, weight bars and a table of solver gaps. Screenshots below are from an EARLIER build on synthetic data; regenerate with scripts/screenshots.py.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Fault-Tolerant Quantum Portfolio Optimizer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D6CB"/>
                </a:solidFill>
              </a:rPr>
              <a:t>Step-by-step code walkthrough, with figures generated from the project's own code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2D6"/>
                </a:solidFill>
              </a:rPr>
              <a:t>Numbers: SYNTHETIC DATA  |  illustrative 12-qubit instance  |  16 steps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How the whole code runs, end to end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Data comes in: prices, VIX, ESG scores.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Every month we estimate returns (mu) and risk (Sigma).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We turn 'choose the best weights' into a QUBO: a yes/no puzzle over bits.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QAOA (a quantum circuit) tries to find the lowest-energy bit pattern.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Noise is added, then error mitigation or logical qubits are applied.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Classical solvers (exact, SA, MIQP, CVaR, RL) solve the same problem; a walk-forward backtest compares all of them.</a:t>
            </a:r>
            <a:endParaRPr lang="en-US" sz="1500" dirty="0"/>
          </a:p>
        </p:txBody>
      </p:sp>
      <p:pic>
        <p:nvPicPr>
          <p:cNvPr id="5" name="Image 0" descr="figs/0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191722"/>
            <a:ext cx="6035040" cy="28403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Each box is one file in qpo/. Numbers in this deck: SYNTHETIC DATA.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run_all.py calls each box in this order, one command per stage.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1 -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qpo/data.py, scripts/fetch_data.py, scripts/build_esg.py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Real mode: fetch_data.py freezes Yahoo prices and FRED series to csv; every later stage runs offline from that snapshot.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ESG: build_esg.py converts Sustainalytics risk scores (lower = better) into a percentile score where higher = better.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Safeguards: macro series are never back-filled, truncated FRED series are dropped, pseudo-ESG is refused.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Offline mode: a synthetic market with calm and stress regimes and forced 2008-like and 2020-like crises (figure).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This deck was built from: SYNTHETIC DATA (meta.json data_source = synthetic).</a:t>
            </a:r>
            <a:endParaRPr lang="en-US" sz="1500" dirty="0"/>
          </a:p>
        </p:txBody>
      </p:sp>
      <p:pic>
        <p:nvPicPr>
          <p:cNvPr id="5" name="Image 0" descr="figs/02_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935480"/>
            <a:ext cx="6035040" cy="3352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Real runs must report survivorship bias and static-ESG look-ahead.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Figure is the synthetic market used for tests and demos.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2 - Estimate return and risk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qpo/backtest.py make_instance()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the last 252 trading days only (no look-ahead).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Expected return mu = half the asset's own mean + half the universe mean (shrinkage).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Covariance Sigma is shrunk 20% toward its diagonal.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ESG hard filter: assets with ESG &lt; 40 are removed first.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Greedy pick of 3-4 assets (best Sharpe, low correlation) to fit on qubits.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VIX z-score sets risk aversion lambda_t and the weight cap (50% calm, 33% stress).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Time-varying constraints come from this one step.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lambda_t = 6 x (1 + 0.5 x VIX_z).  Stress: cap drops from 3/6 to 2/6.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3 - Build the QUBO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qpo/qubo.py build_qubo()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QUBO is: minimise x^T Q x with every x a bit.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Each weight = level/6, level = b0 + 2*b1: two bits per asset per period.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3 assets x 2 bits x 2 periods = 12 qubits (4096 candidate answers).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Q mixes: -return, +risk, +transaction cost, +budget penalty, +cap penalty, -ESG tilt.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Tests: Q matches the direct objective, and its optimum equals the hard-budget MIQP optimum.</a:t>
            </a:r>
            <a:endParaRPr lang="en-US" sz="1500" dirty="0"/>
          </a:p>
        </p:txBody>
      </p:sp>
      <p:pic>
        <p:nvPicPr>
          <p:cNvPr id="5" name="Image 0" descr="figs/03_qub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344522"/>
            <a:ext cx="6035040" cy="25347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Red/blue cells are the couplings the circuit must encode.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Heatmap of Q for the 2008-10-15 instance (synthetic market).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4 - QAOA (the quantum part)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qpo/qaoa.py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Start in an equal superposition of all bitstrings.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Repeat p times: a cost phase then an RX mixer.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Two angles per layer are tuned by COBYLA.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Adaptive depth: add layers (up to 3) only while the improvement exceeds 1%.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Sample bitstrings, evaluate their true energy classically, keep the best.</a:t>
            </a:r>
            <a:endParaRPr lang="en-US" sz="1500" dirty="0"/>
          </a:p>
        </p:txBody>
      </p:sp>
      <p:pic>
        <p:nvPicPr>
          <p:cNvPr id="5" name="Image 0" descr="figs/04_qao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404872"/>
            <a:ext cx="6035040" cy="24140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P(optimum) = 0.0009 vs uniform 0.00024: boosted, but the optimum stays unlikely.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Optimum energy -0.031, random mean 2.149, QAOA (p=1) mean 0.663.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5 - Noise (NISQ+ model)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qpo/noise.py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Gate, idle and readout errors are turned into an independent bit-flip probability q per qubit on the output string.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 this instance q is 0.026 (raw), 0.025 (with DD) and 1.0e-06 (logical).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Phenomenological model, not hardware truth.</a:t>
            </a:r>
            <a:endParaRPr lang="en-US" sz="1500" dirty="0"/>
          </a:p>
        </p:txBody>
      </p:sp>
      <p:pic>
        <p:nvPicPr>
          <p:cNvPr id="5" name="Image 0" descr="figs/05_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87583"/>
            <a:ext cx="6035040" cy="3448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Dynamical decoupling only trims idle error, so it helps a little.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Energy 0.663 (ideal) -&gt; 0.780 (raw).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6a - Zero-noise extrapolation (ZNE)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qpo/qaoa.py estimate_energy(method='zne')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Run at 1x, 2x and 3x noise.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Fit a curve and read it at 0x.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Cost: more runs and variance inflated by 19x (Richardson weights 3, -3, 1).</a:t>
            </a:r>
            <a:endParaRPr lang="en-US" sz="1500" dirty="0"/>
          </a:p>
        </p:txBody>
      </p:sp>
      <p:pic>
        <p:nvPicPr>
          <p:cNvPr id="5" name="Image 0" descr="figs/06_z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87583"/>
            <a:ext cx="6035040" cy="3448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ZNE reduces the bias but not completely.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Raw 0.7798 -&gt; ZNE 0.7089 (ideal 0.6629).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6b - Probabilistic error cancellation (PEC)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qpo/qaoa.py + qpo/theory.py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The channel is known, so we apply its inverse with signed random samples.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 this instance PEC gives 0.6629 (ideal 0.6629): unbiased.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Price: gamma = (1-2q)^(-n); shots grow as gamma^2.</a:t>
            </a:r>
            <a:endParaRPr lang="en-US" sz="1500" dirty="0"/>
          </a:p>
        </p:txBody>
      </p:sp>
      <p:pic>
        <p:nvPicPr>
          <p:cNvPr id="5" name="Image 0" descr="figs/07_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87583"/>
            <a:ext cx="6035040" cy="3448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This is why logical qubits are needed at scale.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n=12 at this q: gamma^2 = 3.6.  n=100, q=0.03: gamma^2 = 2.37e+05.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7 - Logical qubits with Stim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qpo/qec.py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Stim simulates the rotated surface code memory experiment, PyMatching decodes (d = 3, 5, 7).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Fit: p_L/round = A (p/p_th)^((d+1)/2) with A = 0.044, p_th = 0.0099 (9 points).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Logical mode injects the fitted logical flip rate into the small QAOA simulation.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Stim covers memory only; QAOA's non-Clifford gates are not simulated at code level.</a:t>
            </a:r>
            <a:endParaRPr lang="en-US" sz="1500" dirty="0"/>
          </a:p>
        </p:txBody>
      </p:sp>
      <p:pic>
        <p:nvPicPr>
          <p:cNvPr id="5" name="Image 0" descr="figs/12_q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7740" y="1645920"/>
            <a:ext cx="54610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Say this clearly in the report.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Data exist for p = 2e-3..6e-3 only; lower p is an extrapolation.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8 - Resource estimation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qpo/qec.py estimate_resources(), scripts/resource_sweep.py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Count rotations -&gt; T gates, choose distance d, add T-factory area; failure budget split three ways (logical, synthesis, magic states).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n=16, p=1e-3: 75,576 physical qubits (range 49,232 - 88,758).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n=120, p=1e-3: 539,604 (range 183,480 - 1,180,620); needs 2-level distillation.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All constants are swept (assumptions table, tornado plot). Runtime is T-supply bound.</a:t>
            </a:r>
            <a:endParaRPr lang="en-US" sz="1500" dirty="0"/>
          </a:p>
        </p:txBody>
      </p:sp>
      <p:pic>
        <p:nvPicPr>
          <p:cNvPr id="5" name="Image 0" descr="figs/08_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465222"/>
            <a:ext cx="6035040" cy="22933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Better hardware (p=1e-4) cuts the qubit count several-fold.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Report item (a).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9 - Error-mitigation ablation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scripts/ablation.py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Each mitigation is switched on separately and in combination (9 configurations).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Raw error 0.112; ZNE 0.055; PEC 0.038.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DD+ZNE 0.045; DD+PEC 0.038; logical (d=7) 0.007.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Sampling overhead: ZNE 57x, PEC 12x.</a:t>
            </a:r>
            <a:endParaRPr lang="en-US" sz="1500" dirty="0"/>
          </a:p>
        </p:txBody>
      </p:sp>
      <p:pic>
        <p:nvPicPr>
          <p:cNvPr id="5" name="Image 0" descr="figs/09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103120"/>
            <a:ext cx="603504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Mitigation helps estimation; logical qubits help most.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Report item (b).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10 - Classical baselines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qpo/classical.py, qpo/miqp.py, qpo/rl_torch.py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exact_qubo: brute force = true QUBO optimum (ceiling for QUBO solvers). sa_qubo: simulated annealing.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miqp_sub: hard-budget discrete problem, Gurobi MIQP if installed, else an exact DP (same optimum, cross-tested).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CVaR stochastic programs in HiGHS (and Gurobi when installed); equal weight.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RL: NumPy evolution-strategy agent; PyTorch REINFORCE agent written but NOT run in this build.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exact optimum lets us measure how far QAOA is from perfect.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CVaR minimises average loss in the worst 10% of scenarios.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11 - Walk-forward backtest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qpo/backtest.py run_backtest()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Every rebalance: build the QUBO from past data only, solve, trade, pay costs, hold.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Methods: 11.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GFC_2008: best classical cvar_sub Sharpe 1.17; QAOA logical 1.16; equal weight 0.67.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COVID_2020: best classical cvar_full Sharpe 0.37; QAOA logical -0.01; equal weight -0.34.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QUBO solvers differ little: the problem is tiny and the exact optimum is the ceiling.</a:t>
            </a:r>
            <a:endParaRPr lang="en-US" sz="1500" dirty="0"/>
          </a:p>
        </p:txBody>
      </p:sp>
      <p:pic>
        <p:nvPicPr>
          <p:cNvPr id="5" name="Image 0" descr="figs/11_back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514600"/>
            <a:ext cx="6035040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Tests confirm there is no look-ahead.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SYNTHETIC DATA. These numbers say nothing about real markets.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12 - Statistical significance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qpo/stats.py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Paired stationary bootstrap on the Sharpe difference; Wilcoxon on per-period returns; Holm correction.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Result: 0 of 28 (GFC) and 0 of 28 (COVID) differences are significant.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Example: qaoa_ideal vs cvar_sub in 2008: diff -0.13, 95% CI [-0.48, +0.32].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Wide intervals mean low power: not significant is not the same as equal.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No claim of quantum outperformance is supported by this table.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Report item (c).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13 - Scaling and theory bounds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qpo/theory.py, docs/THEORY.md, scripts/scaling.py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P1 noisy success &gt;= ideal x (1-q)^n.  P2 Hoeffding shots.  P3 PEC cost gamma^2 (n=100, q=0.03: 2.4e5).  P4 ZNE variance x19.  P5 random baseline 2^n.  P6 noise budget shrinks like 1/n.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Empirical exponents (cost ~ 2^(s n)): QAOA 0.86, SA 0.43, random 1.00, Grover 0.50.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Six sizes, n &lt;= 16: trend evidence only.</a:t>
            </a:r>
            <a:endParaRPr lang="en-US" sz="1500" dirty="0"/>
          </a:p>
        </p:txBody>
      </p:sp>
      <p:pic>
        <p:nvPicPr>
          <p:cNvPr id="5" name="Image 0" descr="figs/10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87583"/>
            <a:ext cx="6035040" cy="3448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Grover's sqrt(2^n) curve is a reference line only.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Honest result: the bounds are rigorous; an advantage is not shown.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14 - Live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39A8C"/>
                </a:solidFill>
              </a:rPr>
              <a:t>Where: dashboard/app.py, qpo/live.py, scripts/screenshots.py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Streamlit app replays market data tick by tick (synthetic or the real snapshot, with a banner saying which).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Every N ticks it rebuilds the QUBO from data seen so far and re-solves with each chosen method.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Shows P&amp;L lines, weight bars and a table of solver gaps.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Screenshots below are from an EARLIER build on synthetic data; regenerate with scripts/screenshots.py.</a:t>
            </a:r>
            <a:endParaRPr lang="en-US" sz="1500" dirty="0"/>
          </a:p>
        </p:txBody>
      </p:sp>
      <p:pic>
        <p:nvPicPr>
          <p:cNvPr id="5" name="Image 0" descr="figs/13_dash_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79814"/>
            <a:ext cx="6035040" cy="36641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4F4F1"/>
          </a:solidFill>
          <a:ln w="12700">
            <a:solidFill>
              <a:srgbClr val="E4F4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</a:rPr>
              <a:t>Takeaway: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Report item (d).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Screenshot: 2008 replay, synthetic data, earlier build.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7"/>
                </a:solidFill>
              </a:rPr>
              <a:t>Built and tested offline: QUBO, QAOA, noise, DD/ZNE/PEC, resource estimator + sweeps, MIQP (exact DP), stats, theory, data-loader safeguards (mocked)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8EEF7"/>
                </a:solidFill>
              </a:rPr>
              <a:t>Needs your machine: real Yahoo/FRED/ESG data, Stim re-run, PyTorch agent test, Gurobi MIQP test, dashboard screenshots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8EEF7"/>
                </a:solidFill>
              </a:rPr>
              <a:t>Honest claim: rigorous bounds plus an empirical test; no quantum advantage shown at n up to 16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QPO Code Walkthrough</dc:title>
  <dc:subject>PptxGenJS Presentation</dc:subject>
  <dc:creator>PptxGenJS</dc:creator>
  <cp:lastModifiedBy>PptxGenJS</cp:lastModifiedBy>
  <cp:revision>1</cp:revision>
  <dcterms:created xsi:type="dcterms:W3CDTF">2026-10-25T10:40:02Z</dcterms:created>
  <dcterms:modified xsi:type="dcterms:W3CDTF">2026-10-25T10:40:02Z</dcterms:modified>
</cp:coreProperties>
</file>